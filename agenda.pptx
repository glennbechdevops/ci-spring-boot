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262" r:id="rId2"/>
    <p:sldId id="264" r:id="rId3"/>
    <p:sldId id="270" r:id="rId4"/>
    <p:sldId id="271" r:id="rId5"/>
    <p:sldId id="268" r:id="rId6"/>
    <p:sldId id="269" r:id="rId7"/>
    <p:sldId id="3202" r:id="rId8"/>
    <p:sldId id="261" r:id="rId9"/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274"/>
    <p:restoredTop sz="96327"/>
  </p:normalViewPr>
  <p:slideViewPr>
    <p:cSldViewPr snapToGrid="0">
      <p:cViewPr varScale="1">
        <p:scale>
          <a:sx n="116" d="100"/>
          <a:sy n="116" d="100"/>
        </p:scale>
        <p:origin x="20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BAC23-D18D-0340-846F-74786B657175}" type="datetimeFigureOut">
              <a:rPr lang="nb-NO" smtClean="0"/>
              <a:t>11.09.2026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A4F30-AA9C-AB45-A8EA-E19A7DD9A07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22794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Shape 52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21" name="Shape 52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156">
              <a:lnSpc>
                <a:spcPct val="100000"/>
              </a:lnSpc>
              <a:defRPr sz="24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AWS SAM LOCAL</a:t>
            </a:r>
          </a:p>
        </p:txBody>
      </p:sp>
    </p:spTree>
    <p:extLst>
      <p:ext uri="{BB962C8B-B14F-4D97-AF65-F5344CB8AC3E}">
        <p14:creationId xmlns:p14="http://schemas.microsoft.com/office/powerpoint/2010/main" val="268614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132C-FC8F-6A48-A507-2F28F8C2E66F}" type="datetimeFigureOut">
              <a:rPr lang="nb-NO" smtClean="0"/>
              <a:t>11.09.2026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C5BB2F2B-BFA9-A544-B7B8-B4F9817152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25867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132C-FC8F-6A48-A507-2F28F8C2E66F}" type="datetimeFigureOut">
              <a:rPr lang="nb-NO" smtClean="0"/>
              <a:t>11.09.2026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2F2B-BFA9-A544-B7B8-B4F9817152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00909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3DB6132C-FC8F-6A48-A507-2F28F8C2E66F}" type="datetimeFigureOut">
              <a:rPr lang="nb-NO" smtClean="0"/>
              <a:t>11.09.2026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nb-NO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5BB2F2B-BFA9-A544-B7B8-B4F9817152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61624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132C-FC8F-6A48-A507-2F28F8C2E66F}" type="datetimeFigureOut">
              <a:rPr lang="nb-NO" smtClean="0"/>
              <a:t>11.09.2026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2F2B-BFA9-A544-B7B8-B4F9817152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986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132C-FC8F-6A48-A507-2F28F8C2E66F}" type="datetimeFigureOut">
              <a:rPr lang="nb-NO" smtClean="0"/>
              <a:t>11.09.2026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2F2B-BFA9-A544-B7B8-B4F981715264}" type="slidenum">
              <a:rPr lang="nb-NO" smtClean="0"/>
              <a:t>‹#›</a:t>
            </a:fld>
            <a:endParaRPr lang="nb-NO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023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132C-FC8F-6A48-A507-2F28F8C2E66F}" type="datetimeFigureOut">
              <a:rPr lang="nb-NO" smtClean="0"/>
              <a:t>11.09.2026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2F2B-BFA9-A544-B7B8-B4F981715264}" type="slidenum">
              <a:rPr lang="nb-NO" smtClean="0"/>
              <a:t>‹#›</a:t>
            </a:fld>
            <a:endParaRPr lang="nb-NO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22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132C-FC8F-6A48-A507-2F28F8C2E66F}" type="datetimeFigureOut">
              <a:rPr lang="nb-NO" smtClean="0"/>
              <a:t>11.09.2026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2F2B-BFA9-A544-B7B8-B4F9817152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73557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132C-FC8F-6A48-A507-2F28F8C2E66F}" type="datetimeFigureOut">
              <a:rPr lang="nb-NO" smtClean="0"/>
              <a:t>11.09.2026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2F2B-BFA9-A544-B7B8-B4F9817152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70427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132C-FC8F-6A48-A507-2F28F8C2E66F}" type="datetimeFigureOut">
              <a:rPr lang="nb-NO" smtClean="0"/>
              <a:t>11.09.2026</a:t>
            </a:fld>
            <a:endParaRPr lang="nb-NO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2F2B-BFA9-A544-B7B8-B4F9817152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69802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132C-FC8F-6A48-A507-2F28F8C2E66F}" type="datetimeFigureOut">
              <a:rPr lang="nb-NO" smtClean="0"/>
              <a:t>11.09.2026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2F2B-BFA9-A544-B7B8-B4F9817152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99298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132C-FC8F-6A48-A507-2F28F8C2E66F}" type="datetimeFigureOut">
              <a:rPr lang="nb-NO" smtClean="0"/>
              <a:t>11.09.2026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2F2B-BFA9-A544-B7B8-B4F9817152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35633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laceholder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icture Placeholder 4"/>
          <p:cNvSpPr>
            <a:spLocks noGrp="1"/>
          </p:cNvSpPr>
          <p:nvPr>
            <p:ph type="pic" sz="half" idx="21"/>
          </p:nvPr>
        </p:nvSpPr>
        <p:spPr>
          <a:xfrm>
            <a:off x="1856598" y="434834"/>
            <a:ext cx="3263596" cy="604058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2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077200" y="6356350"/>
            <a:ext cx="2133600" cy="368300"/>
          </a:xfrm>
          <a:prstGeom prst="rect">
            <a:avLst/>
          </a:prstGeom>
        </p:spPr>
        <p:txBody>
          <a:bodyPr lIns="68582" tIns="68582" rIns="68582" bIns="68582" anchor="t"/>
          <a:lstStyle>
            <a:lvl1pPr algn="l" defTabSz="914157">
              <a:defRPr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973581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3DB6132C-FC8F-6A48-A507-2F28F8C2E66F}" type="datetimeFigureOut">
              <a:rPr lang="nb-NO" smtClean="0"/>
              <a:t>11.09.2026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nb-NO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C5BB2F2B-BFA9-A544-B7B8-B4F9817152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72412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github.com/glennbechdevops/ci-spring-boot" TargetMode="External"/><Relationship Id="rId4" Type="http://schemas.openxmlformats.org/officeDocument/2006/relationships/hyperlink" Target="https://github.com/glennbechdevops/diy-lambda/blob/main/README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1A9E5-60CE-B2E7-0112-EE5EBB48B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#4 - Hvor </a:t>
            </a:r>
            <a:r>
              <a:rPr lang="nb-NO" dirty="0"/>
              <a:t>var vi: </a:t>
            </a:r>
            <a:br>
              <a:rPr lang="nb-NO" dirty="0"/>
            </a:br>
            <a:r>
              <a:rPr lang="nb-NO" dirty="0"/>
              <a:t>AWS LAMBDA &amp; SAM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F40448-C298-0AE6-C10B-A7B62144AA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34978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789BE1-D1AA-490C-AE1F-86066CC9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44" y="1382165"/>
            <a:ext cx="4869179" cy="1517984"/>
          </a:xfrm>
        </p:spPr>
        <p:txBody>
          <a:bodyPr>
            <a:normAutofit/>
          </a:bodyPr>
          <a:lstStyle/>
          <a:p>
            <a:r>
              <a:rPr lang="nb-NO" sz="4800" b="1" dirty="0">
                <a:solidFill>
                  <a:srgbClr val="000000"/>
                </a:solidFill>
              </a:rPr>
              <a:t>AWS LAMBDA &amp; </a:t>
            </a:r>
            <a:r>
              <a:rPr lang="nb-NO" sz="4800">
                <a:solidFill>
                  <a:srgbClr val="000000"/>
                </a:solidFill>
              </a:rPr>
              <a:t>Serverless</a:t>
            </a:r>
            <a:r>
              <a:rPr lang="nb-NO" sz="4800" dirty="0">
                <a:solidFill>
                  <a:srgbClr val="000000"/>
                </a:solidFill>
              </a:rPr>
              <a:t> </a:t>
            </a:r>
            <a:r>
              <a:rPr lang="nb-NO" sz="4800">
                <a:solidFill>
                  <a:srgbClr val="000000"/>
                </a:solidFill>
              </a:rPr>
              <a:t>compute</a:t>
            </a:r>
            <a:endParaRPr lang="nb-NO" sz="4800" dirty="0">
              <a:solidFill>
                <a:srgbClr val="000000"/>
              </a:solidFill>
            </a:endParaRPr>
          </a:p>
        </p:txBody>
      </p:sp>
      <p:pic>
        <p:nvPicPr>
          <p:cNvPr id="3074" name="Picture 2" descr="aws lambda">
            <a:extLst>
              <a:ext uri="{FF2B5EF4-FFF2-40B4-BE49-F238E27FC236}">
                <a16:creationId xmlns:a16="http://schemas.microsoft.com/office/drawing/2014/main" id="{836DBA60-A021-2BE3-6B6C-39FDC6D32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61" r="37857"/>
          <a:stretch/>
        </p:blipFill>
        <p:spPr bwMode="auto">
          <a:xfrm>
            <a:off x="-9866" y="401980"/>
            <a:ext cx="6115733" cy="6456021"/>
          </a:xfrm>
          <a:custGeom>
            <a:avLst/>
            <a:gdLst/>
            <a:ahLst/>
            <a:cxnLst/>
            <a:rect l="l" t="t" r="r" b="b"/>
            <a:pathLst>
              <a:path w="6115733" h="6456021">
                <a:moveTo>
                  <a:pt x="2259477" y="433395"/>
                </a:moveTo>
                <a:cubicBezTo>
                  <a:pt x="4149632" y="433395"/>
                  <a:pt x="5681904" y="1964133"/>
                  <a:pt x="5681904" y="3852396"/>
                </a:cubicBezTo>
                <a:cubicBezTo>
                  <a:pt x="5681904" y="4796527"/>
                  <a:pt x="5298836" y="5651278"/>
                  <a:pt x="4679499" y="6269995"/>
                </a:cubicBezTo>
                <a:lnTo>
                  <a:pt x="4474613" y="6456021"/>
                </a:lnTo>
                <a:lnTo>
                  <a:pt x="44341" y="6456021"/>
                </a:lnTo>
                <a:lnTo>
                  <a:pt x="0" y="6415762"/>
                </a:lnTo>
                <a:lnTo>
                  <a:pt x="0" y="1289029"/>
                </a:lnTo>
                <a:lnTo>
                  <a:pt x="82495" y="1214128"/>
                </a:lnTo>
                <a:cubicBezTo>
                  <a:pt x="674092" y="726388"/>
                  <a:pt x="1432534" y="433395"/>
                  <a:pt x="2259477" y="433395"/>
                </a:cubicBezTo>
                <a:close/>
                <a:moveTo>
                  <a:pt x="2259477" y="0"/>
                </a:moveTo>
                <a:cubicBezTo>
                  <a:pt x="4389229" y="0"/>
                  <a:pt x="6115733" y="1724776"/>
                  <a:pt x="6115733" y="3852396"/>
                </a:cubicBezTo>
                <a:cubicBezTo>
                  <a:pt x="6115733" y="4783230"/>
                  <a:pt x="5785270" y="5636956"/>
                  <a:pt x="5235152" y="6302877"/>
                </a:cubicBezTo>
                <a:lnTo>
                  <a:pt x="5095826" y="6456021"/>
                </a:lnTo>
                <a:lnTo>
                  <a:pt x="4617788" y="6456021"/>
                </a:lnTo>
                <a:lnTo>
                  <a:pt x="4747668" y="6338096"/>
                </a:lnTo>
                <a:cubicBezTo>
                  <a:pt x="5384452" y="5701950"/>
                  <a:pt x="5778311" y="4823122"/>
                  <a:pt x="5778311" y="3852396"/>
                </a:cubicBezTo>
                <a:cubicBezTo>
                  <a:pt x="5778311" y="1910944"/>
                  <a:pt x="4202875" y="337085"/>
                  <a:pt x="2259477" y="337085"/>
                </a:cubicBezTo>
                <a:cubicBezTo>
                  <a:pt x="1409240" y="337085"/>
                  <a:pt x="629434" y="638331"/>
                  <a:pt x="21172" y="1139811"/>
                </a:cubicBezTo>
                <a:lnTo>
                  <a:pt x="0" y="1159034"/>
                </a:lnTo>
                <a:lnTo>
                  <a:pt x="0" y="735177"/>
                </a:lnTo>
                <a:lnTo>
                  <a:pt x="103407" y="657929"/>
                </a:lnTo>
                <a:cubicBezTo>
                  <a:pt x="718869" y="242547"/>
                  <a:pt x="1460820" y="0"/>
                  <a:pt x="2259477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58027E-2304-B164-B3C3-989A8D979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545" y="3007389"/>
            <a:ext cx="4869179" cy="3065865"/>
          </a:xfrm>
        </p:spPr>
        <p:txBody>
          <a:bodyPr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50" b="1" dirty="0" err="1">
                <a:solidFill>
                  <a:srgbClr val="000000"/>
                </a:solidFill>
              </a:rPr>
              <a:t>Definisjon</a:t>
            </a:r>
            <a:r>
              <a:rPr lang="en-GB" sz="1650" dirty="0">
                <a:solidFill>
                  <a:srgbClr val="000000"/>
                </a:solidFill>
              </a:rPr>
              <a:t>: </a:t>
            </a:r>
            <a:r>
              <a:rPr lang="en-GB" sz="1650" dirty="0" err="1">
                <a:solidFill>
                  <a:srgbClr val="000000"/>
                </a:solidFill>
              </a:rPr>
              <a:t>Serverløs</a:t>
            </a:r>
            <a:r>
              <a:rPr lang="en-GB" sz="1650" dirty="0">
                <a:solidFill>
                  <a:srgbClr val="000000"/>
                </a:solidFill>
              </a:rPr>
              <a:t> </a:t>
            </a:r>
            <a:r>
              <a:rPr lang="en-GB" sz="1650" dirty="0" err="1">
                <a:solidFill>
                  <a:srgbClr val="000000"/>
                </a:solidFill>
              </a:rPr>
              <a:t>datatjeneste</a:t>
            </a:r>
            <a:r>
              <a:rPr lang="en-GB" sz="1650" dirty="0">
                <a:solidFill>
                  <a:srgbClr val="000000"/>
                </a:solidFill>
              </a:rPr>
              <a:t> </a:t>
            </a:r>
            <a:r>
              <a:rPr lang="en-GB" sz="1650" dirty="0" err="1">
                <a:solidFill>
                  <a:srgbClr val="000000"/>
                </a:solidFill>
              </a:rPr>
              <a:t>som</a:t>
            </a:r>
            <a:r>
              <a:rPr lang="en-GB" sz="1650" dirty="0">
                <a:solidFill>
                  <a:srgbClr val="000000"/>
                </a:solidFill>
              </a:rPr>
              <a:t> </a:t>
            </a:r>
            <a:r>
              <a:rPr lang="en-GB" sz="1650" dirty="0" err="1">
                <a:solidFill>
                  <a:srgbClr val="000000"/>
                </a:solidFill>
              </a:rPr>
              <a:t>kjører</a:t>
            </a:r>
            <a:r>
              <a:rPr lang="en-GB" sz="1650" dirty="0">
                <a:solidFill>
                  <a:srgbClr val="000000"/>
                </a:solidFill>
              </a:rPr>
              <a:t> </a:t>
            </a:r>
            <a:r>
              <a:rPr lang="en-GB" sz="1650" dirty="0" err="1">
                <a:solidFill>
                  <a:srgbClr val="000000"/>
                </a:solidFill>
              </a:rPr>
              <a:t>koden</a:t>
            </a:r>
            <a:r>
              <a:rPr lang="en-GB" sz="1650" dirty="0">
                <a:solidFill>
                  <a:srgbClr val="000000"/>
                </a:solidFill>
              </a:rPr>
              <a:t> din </a:t>
            </a:r>
            <a:r>
              <a:rPr lang="en-GB" sz="1650" dirty="0" err="1">
                <a:solidFill>
                  <a:srgbClr val="000000"/>
                </a:solidFill>
              </a:rPr>
              <a:t>som</a:t>
            </a:r>
            <a:r>
              <a:rPr lang="en-GB" sz="1650" dirty="0">
                <a:solidFill>
                  <a:srgbClr val="000000"/>
                </a:solidFill>
              </a:rPr>
              <a:t> </a:t>
            </a:r>
            <a:r>
              <a:rPr lang="en-GB" sz="1650" dirty="0" err="1">
                <a:solidFill>
                  <a:srgbClr val="000000"/>
                </a:solidFill>
              </a:rPr>
              <a:t>svar</a:t>
            </a:r>
            <a:r>
              <a:rPr lang="en-GB" sz="1650" dirty="0">
                <a:solidFill>
                  <a:srgbClr val="000000"/>
                </a:solidFill>
              </a:rPr>
              <a:t> </a:t>
            </a:r>
            <a:r>
              <a:rPr lang="en-GB" sz="1650" dirty="0" err="1">
                <a:solidFill>
                  <a:srgbClr val="000000"/>
                </a:solidFill>
              </a:rPr>
              <a:t>på</a:t>
            </a:r>
            <a:r>
              <a:rPr lang="en-GB" sz="1650" dirty="0">
                <a:solidFill>
                  <a:srgbClr val="000000"/>
                </a:solidFill>
              </a:rPr>
              <a:t> </a:t>
            </a:r>
            <a:r>
              <a:rPr lang="en-GB" sz="1650" dirty="0" err="1">
                <a:solidFill>
                  <a:srgbClr val="000000"/>
                </a:solidFill>
              </a:rPr>
              <a:t>hendelser</a:t>
            </a:r>
            <a:r>
              <a:rPr lang="en-GB" sz="1650" dirty="0">
                <a:solidFill>
                  <a:srgbClr val="000000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50" b="1" dirty="0" err="1">
                <a:solidFill>
                  <a:srgbClr val="000000"/>
                </a:solidFill>
              </a:rPr>
              <a:t>Hovedfunksjon</a:t>
            </a:r>
            <a:r>
              <a:rPr lang="en-GB" sz="1650" dirty="0">
                <a:solidFill>
                  <a:srgbClr val="000000"/>
                </a:solidFill>
              </a:rPr>
              <a:t>: Ingen </a:t>
            </a:r>
            <a:r>
              <a:rPr lang="en-GB" sz="1650" dirty="0" err="1">
                <a:solidFill>
                  <a:srgbClr val="000000"/>
                </a:solidFill>
              </a:rPr>
              <a:t>behov</a:t>
            </a:r>
            <a:r>
              <a:rPr lang="en-GB" sz="1650" dirty="0">
                <a:solidFill>
                  <a:srgbClr val="000000"/>
                </a:solidFill>
              </a:rPr>
              <a:t> for </a:t>
            </a:r>
            <a:r>
              <a:rPr lang="en-GB" sz="1650" dirty="0" err="1">
                <a:solidFill>
                  <a:srgbClr val="000000"/>
                </a:solidFill>
              </a:rPr>
              <a:t>serveradministrasjon</a:t>
            </a:r>
            <a:r>
              <a:rPr lang="en-GB" sz="1650" dirty="0">
                <a:solidFill>
                  <a:srgbClr val="000000"/>
                </a:solidFill>
              </a:rPr>
              <a:t>; </a:t>
            </a:r>
            <a:r>
              <a:rPr lang="en-GB" sz="1650" dirty="0" err="1">
                <a:solidFill>
                  <a:srgbClr val="000000"/>
                </a:solidFill>
              </a:rPr>
              <a:t>skalerer</a:t>
            </a:r>
            <a:r>
              <a:rPr lang="en-GB" sz="1650" dirty="0">
                <a:solidFill>
                  <a:srgbClr val="000000"/>
                </a:solidFill>
              </a:rPr>
              <a:t> </a:t>
            </a:r>
            <a:r>
              <a:rPr lang="en-GB" sz="1650" dirty="0" err="1">
                <a:solidFill>
                  <a:srgbClr val="000000"/>
                </a:solidFill>
              </a:rPr>
              <a:t>automatisk</a:t>
            </a:r>
            <a:r>
              <a:rPr lang="en-GB" sz="1650" dirty="0">
                <a:solidFill>
                  <a:srgbClr val="000000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50" b="1" dirty="0" err="1">
                <a:solidFill>
                  <a:srgbClr val="000000"/>
                </a:solidFill>
              </a:rPr>
              <a:t>Bruksområde</a:t>
            </a:r>
            <a:r>
              <a:rPr lang="en-GB" sz="1650" dirty="0">
                <a:solidFill>
                  <a:srgbClr val="000000"/>
                </a:solidFill>
              </a:rPr>
              <a:t>: </a:t>
            </a:r>
            <a:r>
              <a:rPr lang="en-GB" sz="1650" dirty="0" err="1">
                <a:solidFill>
                  <a:srgbClr val="000000"/>
                </a:solidFill>
              </a:rPr>
              <a:t>Ideell</a:t>
            </a:r>
            <a:r>
              <a:rPr lang="en-GB" sz="1650" dirty="0">
                <a:solidFill>
                  <a:srgbClr val="000000"/>
                </a:solidFill>
              </a:rPr>
              <a:t> for </a:t>
            </a:r>
            <a:r>
              <a:rPr lang="en-GB" sz="1650" dirty="0" err="1">
                <a:solidFill>
                  <a:srgbClr val="000000"/>
                </a:solidFill>
              </a:rPr>
              <a:t>å</a:t>
            </a:r>
            <a:r>
              <a:rPr lang="en-GB" sz="1650" dirty="0">
                <a:solidFill>
                  <a:srgbClr val="000000"/>
                </a:solidFill>
              </a:rPr>
              <a:t> </a:t>
            </a:r>
            <a:r>
              <a:rPr lang="en-GB" sz="1650" dirty="0" err="1">
                <a:solidFill>
                  <a:srgbClr val="000000"/>
                </a:solidFill>
              </a:rPr>
              <a:t>kjøre</a:t>
            </a:r>
            <a:r>
              <a:rPr lang="en-GB" sz="1650" dirty="0">
                <a:solidFill>
                  <a:srgbClr val="000000"/>
                </a:solidFill>
              </a:rPr>
              <a:t> backend-</a:t>
            </a:r>
            <a:r>
              <a:rPr lang="en-GB" sz="1650" dirty="0" err="1">
                <a:solidFill>
                  <a:srgbClr val="000000"/>
                </a:solidFill>
              </a:rPr>
              <a:t>kode</a:t>
            </a:r>
            <a:r>
              <a:rPr lang="en-GB" sz="1650" dirty="0">
                <a:solidFill>
                  <a:srgbClr val="000000"/>
                </a:solidFill>
              </a:rPr>
              <a:t> </a:t>
            </a:r>
            <a:r>
              <a:rPr lang="en-GB" sz="1650" dirty="0" err="1">
                <a:solidFill>
                  <a:srgbClr val="000000"/>
                </a:solidFill>
              </a:rPr>
              <a:t>uten</a:t>
            </a:r>
            <a:r>
              <a:rPr lang="en-GB" sz="1650" dirty="0">
                <a:solidFill>
                  <a:srgbClr val="000000"/>
                </a:solidFill>
              </a:rPr>
              <a:t> </a:t>
            </a:r>
            <a:r>
              <a:rPr lang="en-GB" sz="1650" dirty="0" err="1">
                <a:solidFill>
                  <a:srgbClr val="000000"/>
                </a:solidFill>
              </a:rPr>
              <a:t>å</a:t>
            </a:r>
            <a:r>
              <a:rPr lang="en-GB" sz="1650" dirty="0">
                <a:solidFill>
                  <a:srgbClr val="000000"/>
                </a:solidFill>
              </a:rPr>
              <a:t> </a:t>
            </a:r>
            <a:r>
              <a:rPr lang="en-GB" sz="1650" dirty="0" err="1">
                <a:solidFill>
                  <a:srgbClr val="000000"/>
                </a:solidFill>
              </a:rPr>
              <a:t>måtte</a:t>
            </a:r>
            <a:r>
              <a:rPr lang="en-GB" sz="1650" dirty="0">
                <a:solidFill>
                  <a:srgbClr val="000000"/>
                </a:solidFill>
              </a:rPr>
              <a:t> </a:t>
            </a:r>
            <a:r>
              <a:rPr lang="en-GB" sz="1650" dirty="0" err="1">
                <a:solidFill>
                  <a:srgbClr val="000000"/>
                </a:solidFill>
              </a:rPr>
              <a:t>administrere</a:t>
            </a:r>
            <a:r>
              <a:rPr lang="en-GB" sz="1650" dirty="0">
                <a:solidFill>
                  <a:srgbClr val="000000"/>
                </a:solidFill>
              </a:rPr>
              <a:t> </a:t>
            </a:r>
            <a:r>
              <a:rPr lang="en-GB" sz="1650" dirty="0" err="1">
                <a:solidFill>
                  <a:srgbClr val="000000"/>
                </a:solidFill>
              </a:rPr>
              <a:t>infrastruktur</a:t>
            </a:r>
            <a:r>
              <a:rPr lang="en-GB" sz="1650" dirty="0">
                <a:solidFill>
                  <a:srgbClr val="000000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50" b="1" dirty="0" err="1">
                <a:solidFill>
                  <a:srgbClr val="000000"/>
                </a:solidFill>
              </a:rPr>
              <a:t>Utløsere</a:t>
            </a:r>
            <a:r>
              <a:rPr lang="en-GB" sz="1650" dirty="0">
                <a:solidFill>
                  <a:srgbClr val="000000"/>
                </a:solidFill>
              </a:rPr>
              <a:t>: S3, API Gateway, DynamoDB, CloudWatch, </a:t>
            </a:r>
            <a:r>
              <a:rPr lang="en-GB" sz="1650" dirty="0" err="1">
                <a:solidFill>
                  <a:srgbClr val="000000"/>
                </a:solidFill>
              </a:rPr>
              <a:t>osv</a:t>
            </a:r>
            <a:r>
              <a:rPr lang="en-GB" sz="1650" dirty="0">
                <a:solidFill>
                  <a:srgbClr val="000000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50" b="1" dirty="0" err="1">
                <a:solidFill>
                  <a:srgbClr val="000000"/>
                </a:solidFill>
              </a:rPr>
              <a:t>Prismodell</a:t>
            </a:r>
            <a:r>
              <a:rPr lang="en-GB" sz="1650" dirty="0">
                <a:solidFill>
                  <a:srgbClr val="000000"/>
                </a:solidFill>
              </a:rPr>
              <a:t>: </a:t>
            </a:r>
            <a:r>
              <a:rPr lang="en-GB" sz="1650" dirty="0" err="1">
                <a:solidFill>
                  <a:srgbClr val="000000"/>
                </a:solidFill>
              </a:rPr>
              <a:t>Betal</a:t>
            </a:r>
            <a:r>
              <a:rPr lang="en-GB" sz="1650" dirty="0">
                <a:solidFill>
                  <a:srgbClr val="000000"/>
                </a:solidFill>
              </a:rPr>
              <a:t> </a:t>
            </a:r>
            <a:r>
              <a:rPr lang="en-GB" sz="1650" dirty="0" err="1">
                <a:solidFill>
                  <a:srgbClr val="000000"/>
                </a:solidFill>
              </a:rPr>
              <a:t>kun</a:t>
            </a:r>
            <a:r>
              <a:rPr lang="en-GB" sz="1650" dirty="0">
                <a:solidFill>
                  <a:srgbClr val="000000"/>
                </a:solidFill>
              </a:rPr>
              <a:t> for </a:t>
            </a:r>
            <a:r>
              <a:rPr lang="en-GB" sz="1650" dirty="0" err="1">
                <a:solidFill>
                  <a:srgbClr val="000000"/>
                </a:solidFill>
              </a:rPr>
              <a:t>datakraften</a:t>
            </a:r>
            <a:r>
              <a:rPr lang="en-GB" sz="1650" dirty="0">
                <a:solidFill>
                  <a:srgbClr val="000000"/>
                </a:solidFill>
              </a:rPr>
              <a:t> du </a:t>
            </a:r>
            <a:r>
              <a:rPr lang="en-GB" sz="1650" dirty="0" err="1">
                <a:solidFill>
                  <a:srgbClr val="000000"/>
                </a:solidFill>
              </a:rPr>
              <a:t>bruker</a:t>
            </a:r>
            <a:r>
              <a:rPr lang="en-GB" sz="1650" dirty="0">
                <a:solidFill>
                  <a:srgbClr val="000000"/>
                </a:solidFill>
              </a:rPr>
              <a:t> (</a:t>
            </a:r>
            <a:r>
              <a:rPr lang="en-GB" sz="1650" dirty="0" err="1">
                <a:solidFill>
                  <a:srgbClr val="000000"/>
                </a:solidFill>
              </a:rPr>
              <a:t>millisekunder</a:t>
            </a:r>
            <a:r>
              <a:rPr lang="en-GB" sz="1650" dirty="0">
                <a:solidFill>
                  <a:srgbClr val="000000"/>
                </a:solidFill>
              </a:rPr>
              <a:t>).</a:t>
            </a:r>
          </a:p>
        </p:txBody>
      </p:sp>
      <p:sp>
        <p:nvSpPr>
          <p:cNvPr id="331" name="TextBox 7"/>
          <p:cNvSpPr txBox="1">
            <a:spLocks noGrp="1"/>
          </p:cNvSpPr>
          <p:nvPr>
            <p:ph type="sldNum" sz="quarter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lIns="25719" tIns="25719" rIns="25719" bIns="25719" rtlCol="0" anchor="ctr">
            <a:normAutofit/>
          </a:bodyPr>
          <a:lstStyle>
            <a:lvl1pPr defTabSz="914157">
              <a:defRPr sz="6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</a:lstStyle>
          <a:p>
            <a:pPr>
              <a:spcAft>
                <a:spcPts val="300"/>
              </a:spcAft>
            </a:pPr>
            <a:fld id="{86CB4B4D-7CA3-9044-876B-883B54F8677D}" type="slidenum">
              <a:rPr/>
              <a:pPr>
                <a:spcAft>
                  <a:spcPts val="300"/>
                </a:spcAft>
              </a:pPr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2512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5B59E3-83D1-0592-6BF5-8243E5073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350" y="635000"/>
            <a:ext cx="5067300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548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7EECE-A6C7-3A27-F28B-77E9FA4E8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6E0231-464B-0943-D569-5E832C08F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35524"/>
            <a:ext cx="7772400" cy="518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071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TextBox 7"/>
          <p:cNvSpPr txBox="1">
            <a:spLocks noGrp="1"/>
          </p:cNvSpPr>
          <p:nvPr>
            <p:ph type="sldNum" sz="quarter" idx="2"/>
          </p:nvPr>
        </p:nvSpPr>
        <p:spPr>
          <a:xfrm>
            <a:off x="8932049" y="1107857"/>
            <a:ext cx="142547" cy="14033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lIns="25719" tIns="25719" rIns="25719" bIns="25719" rtlCol="0" anchor="t"/>
          <a:lstStyle>
            <a:lvl1pPr defTabSz="914157">
              <a:defRPr sz="6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</a:lstStyle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370" name="TextBox 3"/>
          <p:cNvSpPr txBox="1"/>
          <p:nvPr/>
        </p:nvSpPr>
        <p:spPr>
          <a:xfrm>
            <a:off x="4398645" y="3307813"/>
            <a:ext cx="3394711" cy="311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7145" tIns="17145" rIns="17145" bIns="17145">
            <a:spAutoFit/>
          </a:bodyPr>
          <a:lstStyle>
            <a:lvl1pPr algn="l" defTabSz="1828313">
              <a:def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sz="1800"/>
              <a:t> </a:t>
            </a:r>
          </a:p>
        </p:txBody>
      </p:sp>
      <p:pic>
        <p:nvPicPr>
          <p:cNvPr id="371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387" y="190230"/>
            <a:ext cx="7478724" cy="649840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4846763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02A9349-1D06-3DA5-3438-747FCCC4318F}"/>
              </a:ext>
            </a:extLst>
          </p:cNvPr>
          <p:cNvSpPr>
            <a:spLocks noGrp="1"/>
          </p:cNvSpPr>
          <p:nvPr>
            <p:ph type="pic" sz="half" idx="21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3" name="Picture 4" descr="Picture 4">
            <a:extLst>
              <a:ext uri="{FF2B5EF4-FFF2-40B4-BE49-F238E27FC236}">
                <a16:creationId xmlns:a16="http://schemas.microsoft.com/office/drawing/2014/main" id="{406C56CA-EEC0-EB8A-A1A0-D45A0D679C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25920"/>
          <a:stretch/>
        </p:blipFill>
        <p:spPr>
          <a:xfrm>
            <a:off x="2541299" y="-120658"/>
            <a:ext cx="6446395" cy="6805082"/>
          </a:xfrm>
          <a:custGeom>
            <a:avLst/>
            <a:gdLst/>
            <a:ahLst/>
            <a:cxnLst/>
            <a:rect l="l" t="t" r="r" b="b"/>
            <a:pathLst>
              <a:path w="6115733" h="6456021">
                <a:moveTo>
                  <a:pt x="2259477" y="433395"/>
                </a:moveTo>
                <a:cubicBezTo>
                  <a:pt x="4149632" y="433395"/>
                  <a:pt x="5681904" y="1964133"/>
                  <a:pt x="5681904" y="3852396"/>
                </a:cubicBezTo>
                <a:cubicBezTo>
                  <a:pt x="5681904" y="4796527"/>
                  <a:pt x="5298836" y="5651278"/>
                  <a:pt x="4679499" y="6269995"/>
                </a:cubicBezTo>
                <a:lnTo>
                  <a:pt x="4474613" y="6456021"/>
                </a:lnTo>
                <a:lnTo>
                  <a:pt x="44341" y="6456021"/>
                </a:lnTo>
                <a:lnTo>
                  <a:pt x="0" y="6415762"/>
                </a:lnTo>
                <a:lnTo>
                  <a:pt x="0" y="1289029"/>
                </a:lnTo>
                <a:lnTo>
                  <a:pt x="82495" y="1214128"/>
                </a:lnTo>
                <a:cubicBezTo>
                  <a:pt x="674092" y="726388"/>
                  <a:pt x="1432534" y="433395"/>
                  <a:pt x="2259477" y="433395"/>
                </a:cubicBezTo>
                <a:close/>
                <a:moveTo>
                  <a:pt x="2259477" y="0"/>
                </a:moveTo>
                <a:cubicBezTo>
                  <a:pt x="4389229" y="0"/>
                  <a:pt x="6115733" y="1724776"/>
                  <a:pt x="6115733" y="3852396"/>
                </a:cubicBezTo>
                <a:cubicBezTo>
                  <a:pt x="6115733" y="4783230"/>
                  <a:pt x="5785270" y="5636956"/>
                  <a:pt x="5235152" y="6302877"/>
                </a:cubicBezTo>
                <a:lnTo>
                  <a:pt x="5095826" y="6456021"/>
                </a:lnTo>
                <a:lnTo>
                  <a:pt x="4617788" y="6456021"/>
                </a:lnTo>
                <a:lnTo>
                  <a:pt x="4747668" y="6338096"/>
                </a:lnTo>
                <a:cubicBezTo>
                  <a:pt x="5384452" y="5701950"/>
                  <a:pt x="5778311" y="4823122"/>
                  <a:pt x="5778311" y="3852396"/>
                </a:cubicBezTo>
                <a:cubicBezTo>
                  <a:pt x="5778311" y="1910944"/>
                  <a:pt x="4202875" y="337085"/>
                  <a:pt x="2259477" y="337085"/>
                </a:cubicBezTo>
                <a:cubicBezTo>
                  <a:pt x="1409240" y="337085"/>
                  <a:pt x="629434" y="638331"/>
                  <a:pt x="21172" y="1139811"/>
                </a:cubicBezTo>
                <a:lnTo>
                  <a:pt x="0" y="1159034"/>
                </a:lnTo>
                <a:lnTo>
                  <a:pt x="0" y="735177"/>
                </a:lnTo>
                <a:lnTo>
                  <a:pt x="103407" y="657929"/>
                </a:lnTo>
                <a:cubicBezTo>
                  <a:pt x="718869" y="242547"/>
                  <a:pt x="1460820" y="0"/>
                  <a:pt x="2259477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7162329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TextBox 7"/>
          <p:cNvSpPr txBox="1">
            <a:spLocks noGrp="1"/>
          </p:cNvSpPr>
          <p:nvPr>
            <p:ph type="sldNum" sz="quarter" idx="2"/>
          </p:nvPr>
        </p:nvSpPr>
        <p:spPr>
          <a:xfrm>
            <a:off x="8932049" y="1107857"/>
            <a:ext cx="142546" cy="14033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lIns="25719" tIns="25719" rIns="25719" bIns="25719" rtlCol="0" anchor="t"/>
          <a:lstStyle>
            <a:lvl1pPr defTabSz="914157">
              <a:defRPr sz="6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</a:lstStyle>
          <a:p>
            <a:fld id="{86CB4B4D-7CA3-9044-876B-883B54F8677D}" type="slidenum">
              <a:rPr/>
              <a:t>7</a:t>
            </a:fld>
            <a:endParaRPr/>
          </a:p>
        </p:txBody>
      </p:sp>
      <p:pic>
        <p:nvPicPr>
          <p:cNvPr id="502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139" y="2149755"/>
            <a:ext cx="5366968" cy="29425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3" name="Graphic 43" descr="Graphic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8465" y="4557818"/>
            <a:ext cx="898384" cy="898384"/>
          </a:xfrm>
          <a:prstGeom prst="rect">
            <a:avLst/>
          </a:prstGeom>
          <a:ln w="12700">
            <a:miter lim="400000"/>
          </a:ln>
        </p:spPr>
      </p:pic>
      <p:sp>
        <p:nvSpPr>
          <p:cNvPr id="504" name="TextBox 9"/>
          <p:cNvSpPr txBox="1"/>
          <p:nvPr/>
        </p:nvSpPr>
        <p:spPr>
          <a:xfrm>
            <a:off x="5308123" y="5191676"/>
            <a:ext cx="828925" cy="126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7145" tIns="17145" rIns="17145" bIns="17145">
            <a:spAutoFit/>
          </a:bodyPr>
          <a:lstStyle>
            <a:lvl1pPr defTabSz="914400">
              <a:defRPr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r>
              <a:rPr sz="600"/>
              <a:t>Utvikle og teste</a:t>
            </a:r>
          </a:p>
        </p:txBody>
      </p:sp>
      <p:sp>
        <p:nvSpPr>
          <p:cNvPr id="505" name="TextBox 19"/>
          <p:cNvSpPr txBox="1"/>
          <p:nvPr/>
        </p:nvSpPr>
        <p:spPr>
          <a:xfrm>
            <a:off x="6253194" y="5480657"/>
            <a:ext cx="828925" cy="1577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7145" tIns="17145" rIns="17145" bIns="17145">
            <a:spAutoFit/>
          </a:bodyPr>
          <a:lstStyle>
            <a:lvl1pPr defTabSz="914400">
              <a:defRPr sz="1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r>
              <a:rPr sz="800"/>
              <a:t>AWS Lambda</a:t>
            </a:r>
          </a:p>
        </p:txBody>
      </p:sp>
      <p:pic>
        <p:nvPicPr>
          <p:cNvPr id="506" name="Graphic 17" descr="Graphic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3771" y="3952988"/>
            <a:ext cx="285751" cy="285751"/>
          </a:xfrm>
          <a:prstGeom prst="rect">
            <a:avLst/>
          </a:prstGeom>
          <a:ln w="12700">
            <a:miter lim="400000"/>
          </a:ln>
        </p:spPr>
      </p:pic>
      <p:sp>
        <p:nvSpPr>
          <p:cNvPr id="507" name="TextBox 22"/>
          <p:cNvSpPr txBox="1"/>
          <p:nvPr/>
        </p:nvSpPr>
        <p:spPr>
          <a:xfrm>
            <a:off x="7579510" y="4279311"/>
            <a:ext cx="51427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defRPr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rPr sz="600"/>
              <a:t>Amazon</a:t>
            </a:r>
            <a:br>
              <a:rPr sz="600"/>
            </a:br>
            <a:r>
              <a:rPr sz="600"/>
              <a:t>API Gateway</a:t>
            </a:r>
          </a:p>
        </p:txBody>
      </p:sp>
      <p:sp>
        <p:nvSpPr>
          <p:cNvPr id="508" name="Elbow Connector 23"/>
          <p:cNvSpPr/>
          <p:nvPr/>
        </p:nvSpPr>
        <p:spPr>
          <a:xfrm flipH="1">
            <a:off x="7198265" y="4545055"/>
            <a:ext cx="676355" cy="6285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04" y="0"/>
                </a:lnTo>
                <a:lnTo>
                  <a:pt x="104" y="21600"/>
                </a:lnTo>
                <a:lnTo>
                  <a:pt x="21600" y="21600"/>
                </a:lnTo>
              </a:path>
            </a:pathLst>
          </a:custGeom>
          <a:ln w="3175">
            <a:solidFill>
              <a:srgbClr val="000000"/>
            </a:solidFill>
            <a:miter/>
            <a:tailEnd type="triangle"/>
          </a:ln>
        </p:spPr>
        <p:txBody>
          <a:bodyPr lIns="25400" tIns="25400" rIns="25400" bIns="25400" anchor="ctr"/>
          <a:lstStyle/>
          <a:p>
            <a:pPr defTabSz="914157">
              <a:def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pic>
        <p:nvPicPr>
          <p:cNvPr id="509" name="Picture 4" descr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4179" y="2826785"/>
            <a:ext cx="898384" cy="941112"/>
          </a:xfrm>
          <a:prstGeom prst="rect">
            <a:avLst/>
          </a:prstGeom>
          <a:ln w="12700">
            <a:miter lim="400000"/>
          </a:ln>
        </p:spPr>
      </p:pic>
      <p:sp>
        <p:nvSpPr>
          <p:cNvPr id="510" name="Elbow Connector 29"/>
          <p:cNvSpPr/>
          <p:nvPr/>
        </p:nvSpPr>
        <p:spPr>
          <a:xfrm>
            <a:off x="7099263" y="3315545"/>
            <a:ext cx="737385" cy="6374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</a:path>
            </a:pathLst>
          </a:custGeom>
          <a:ln w="3175">
            <a:solidFill>
              <a:srgbClr val="000000"/>
            </a:solidFill>
            <a:miter/>
            <a:tailEnd type="triangle"/>
          </a:ln>
        </p:spPr>
        <p:txBody>
          <a:bodyPr lIns="25400" tIns="25400" rIns="25400" bIns="25400" anchor="ctr"/>
          <a:lstStyle/>
          <a:p>
            <a:pPr defTabSz="914157">
              <a:def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514" name="TextBox 6"/>
          <p:cNvSpPr txBox="1"/>
          <p:nvPr/>
        </p:nvSpPr>
        <p:spPr>
          <a:xfrm rot="900000">
            <a:off x="6109353" y="2599814"/>
            <a:ext cx="788036" cy="1731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7145" tIns="17145" rIns="17145" bIns="17145">
            <a:spAutoFit/>
          </a:bodyPr>
          <a:lstStyle>
            <a:lvl1pPr algn="l" defTabSz="1828313">
              <a:defRPr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sz="900" dirty="0" err="1"/>
              <a:t>Klient</a:t>
            </a:r>
            <a:r>
              <a:rPr lang="nb-NO" sz="900" dirty="0"/>
              <a:t>/ Postman</a:t>
            </a:r>
            <a:endParaRPr sz="900" dirty="0"/>
          </a:p>
        </p:txBody>
      </p:sp>
      <p:sp>
        <p:nvSpPr>
          <p:cNvPr id="516" name="Elbow Connector 5"/>
          <p:cNvSpPr/>
          <p:nvPr/>
        </p:nvSpPr>
        <p:spPr>
          <a:xfrm>
            <a:off x="4921001" y="3957401"/>
            <a:ext cx="1316454" cy="11624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3175">
            <a:solidFill>
              <a:srgbClr val="000000"/>
            </a:solidFill>
            <a:miter/>
            <a:tailEnd type="triangle"/>
          </a:ln>
        </p:spPr>
        <p:txBody>
          <a:bodyPr lIns="25400" tIns="25400" rIns="25400" bIns="25400" anchor="ctr"/>
          <a:lstStyle/>
          <a:p>
            <a:pPr defTabSz="914157">
              <a:def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BBF4B8-7724-73BD-9842-8930BC9582A2}"/>
              </a:ext>
            </a:extLst>
          </p:cNvPr>
          <p:cNvSpPr txBox="1"/>
          <p:nvPr/>
        </p:nvSpPr>
        <p:spPr>
          <a:xfrm>
            <a:off x="7541300" y="6307367"/>
            <a:ext cx="1598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 err="1"/>
              <a:t>Comprehend</a:t>
            </a:r>
            <a:endParaRPr lang="nb-NO" dirty="0"/>
          </a:p>
        </p:txBody>
      </p:sp>
      <p:sp>
        <p:nvSpPr>
          <p:cNvPr id="3" name="Elbow Connector 23">
            <a:extLst>
              <a:ext uri="{FF2B5EF4-FFF2-40B4-BE49-F238E27FC236}">
                <a16:creationId xmlns:a16="http://schemas.microsoft.com/office/drawing/2014/main" id="{542C9FB5-1339-0E93-FB5E-B4984970E25A}"/>
              </a:ext>
            </a:extLst>
          </p:cNvPr>
          <p:cNvSpPr/>
          <p:nvPr/>
        </p:nvSpPr>
        <p:spPr>
          <a:xfrm rot="10800000" flipH="1" flipV="1">
            <a:off x="6661397" y="5773976"/>
            <a:ext cx="737386" cy="7180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04" y="0"/>
                </a:lnTo>
                <a:lnTo>
                  <a:pt x="104" y="21600"/>
                </a:lnTo>
                <a:lnTo>
                  <a:pt x="21600" y="21600"/>
                </a:lnTo>
              </a:path>
            </a:pathLst>
          </a:custGeom>
          <a:ln w="3175">
            <a:solidFill>
              <a:srgbClr val="000000"/>
            </a:solidFill>
            <a:miter/>
            <a:tailEnd type="triangle"/>
          </a:ln>
        </p:spPr>
        <p:txBody>
          <a:bodyPr lIns="25400" tIns="25400" rIns="25400" bIns="25400" anchor="ctr"/>
          <a:lstStyle/>
          <a:p>
            <a:pPr defTabSz="914157">
              <a:def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128603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E283B-495F-8FB2-D641-06C87202F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401BE-9B62-4BC8-22A1-6948A49A0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Agenda #4 – FREMOVER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F49AB3-B317-24F2-93E2-50B948BF0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31347"/>
            <a:ext cx="10058400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b="1" dirty="0" err="1"/>
              <a:t>Flow</a:t>
            </a:r>
            <a:endParaRPr lang="nb-NO" b="1" dirty="0"/>
          </a:p>
          <a:p>
            <a:r>
              <a:rPr lang="nb-NO" dirty="0"/>
              <a:t>#1 Hva er </a:t>
            </a:r>
            <a:r>
              <a:rPr lang="nb-NO" dirty="0" err="1"/>
              <a:t>devops</a:t>
            </a:r>
            <a:r>
              <a:rPr lang="nb-NO" dirty="0"/>
              <a:t>, og hvorfor funker </a:t>
            </a:r>
            <a:r>
              <a:rPr lang="nb-NO" dirty="0" err="1"/>
              <a:t>DevOps</a:t>
            </a:r>
            <a:endParaRPr lang="nb-NO" dirty="0"/>
          </a:p>
          <a:p>
            <a:r>
              <a:rPr lang="nb-NO" dirty="0"/>
              <a:t>#2 </a:t>
            </a:r>
            <a:r>
              <a:rPr lang="nb-NO" dirty="0" err="1"/>
              <a:t>DevOps</a:t>
            </a:r>
            <a:r>
              <a:rPr lang="nb-NO" dirty="0"/>
              <a:t> Flyt - prinsipper og konsepter	</a:t>
            </a:r>
          </a:p>
          <a:p>
            <a:r>
              <a:rPr lang="nb-NO" dirty="0"/>
              <a:t>#3 kontinuerlig integrasjon – GitHub </a:t>
            </a:r>
            <a:r>
              <a:rPr lang="nb-NO" dirty="0" err="1"/>
              <a:t>Actions</a:t>
            </a:r>
            <a:r>
              <a:rPr lang="nb-NO" dirty="0"/>
              <a:t>. AWS Lambda</a:t>
            </a:r>
          </a:p>
          <a:p>
            <a:r>
              <a:rPr lang="nb-NO" b="1" dirty="0"/>
              <a:t># 4 AWS Lambda &amp; GitHub </a:t>
            </a:r>
            <a:r>
              <a:rPr lang="nb-NO" b="1" dirty="0" err="1"/>
              <a:t>Actions</a:t>
            </a:r>
            <a:r>
              <a:rPr lang="nb-NO" b="1" dirty="0"/>
              <a:t>  &lt;- </a:t>
            </a:r>
            <a:r>
              <a:rPr lang="nb-NO" b="1" dirty="0" err="1"/>
              <a:t>you</a:t>
            </a:r>
            <a:r>
              <a:rPr lang="nb-NO" b="1" dirty="0"/>
              <a:t> </a:t>
            </a:r>
            <a:r>
              <a:rPr lang="nb-NO" b="1" dirty="0" err="1"/>
              <a:t>are</a:t>
            </a:r>
            <a:r>
              <a:rPr lang="nb-NO" b="1" dirty="0"/>
              <a:t> </a:t>
            </a:r>
            <a:r>
              <a:rPr lang="nb-NO" b="1" dirty="0" err="1"/>
              <a:t>here</a:t>
            </a:r>
            <a:r>
              <a:rPr lang="nb-NO" b="1" dirty="0"/>
              <a:t> </a:t>
            </a:r>
          </a:p>
          <a:p>
            <a:r>
              <a:rPr lang="nb-NO" dirty="0"/>
              <a:t>#5 </a:t>
            </a:r>
            <a:r>
              <a:rPr lang="nb-NO" dirty="0" err="1"/>
              <a:t>Docker</a:t>
            </a:r>
            <a:r>
              <a:rPr lang="nb-NO" dirty="0"/>
              <a:t> og containere med AWS </a:t>
            </a:r>
            <a:r>
              <a:rPr lang="nb-NO" dirty="0" err="1"/>
              <a:t>AppRunner</a:t>
            </a:r>
            <a:r>
              <a:rPr lang="nb-NO" dirty="0"/>
              <a:t>, kontinuerlige leveranser</a:t>
            </a:r>
          </a:p>
          <a:p>
            <a:r>
              <a:rPr lang="nb-NO" dirty="0"/>
              <a:t>#6 Infrastruktur’ som kode med Terraform </a:t>
            </a:r>
          </a:p>
          <a:p>
            <a:r>
              <a:rPr lang="nb-NO" dirty="0"/>
              <a:t>#7 AWS </a:t>
            </a:r>
            <a:r>
              <a:rPr lang="nb-NO" dirty="0" err="1"/>
              <a:t>AppRunner</a:t>
            </a:r>
            <a:r>
              <a:rPr lang="nb-NO" dirty="0"/>
              <a:t> + Terraform i GitHub </a:t>
            </a:r>
            <a:r>
              <a:rPr lang="nb-NO" dirty="0" err="1"/>
              <a:t>Actions</a:t>
            </a:r>
            <a:r>
              <a:rPr lang="nb-NO" dirty="0"/>
              <a:t> </a:t>
            </a:r>
            <a:r>
              <a:rPr lang="nb-NO" dirty="0" err="1"/>
              <a:t>workflow</a:t>
            </a:r>
            <a:endParaRPr lang="nb-NO" dirty="0"/>
          </a:p>
          <a:p>
            <a:r>
              <a:rPr lang="nb-NO" dirty="0"/>
              <a:t>#8 Catch up (4 timer Lab)	</a:t>
            </a:r>
          </a:p>
        </p:txBody>
      </p:sp>
    </p:spTree>
    <p:extLst>
      <p:ext uri="{BB962C8B-B14F-4D97-AF65-F5344CB8AC3E}">
        <p14:creationId xmlns:p14="http://schemas.microsoft.com/office/powerpoint/2010/main" val="1678584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AF89E9-1BFE-EC74-9A39-9322C7EED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nb-NO"/>
              <a:t>Agenda #4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690850-A625-ABF4-3F40-B61D8C58D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/>
          </a:bodyPr>
          <a:lstStyle/>
          <a:p>
            <a:r>
              <a:rPr lang="nb-NO" dirty="0"/>
              <a:t>DIY Lab: AWS Lambda </a:t>
            </a:r>
            <a:r>
              <a:rPr lang="nb-NO" dirty="0">
                <a:hlinkClick r:id="rId4"/>
              </a:rPr>
              <a:t>https://github.com/glennbechdevops/diy-lambda/blob/main/README.md</a:t>
            </a:r>
            <a:r>
              <a:rPr lang="nb-NO" dirty="0"/>
              <a:t> - 30 minutter. GO!</a:t>
            </a:r>
          </a:p>
          <a:p>
            <a:r>
              <a:rPr lang="nb-NO" dirty="0"/>
              <a:t>Kontinuerlige leveranser 	</a:t>
            </a:r>
            <a:endParaRPr lang="nb-NO" b="1" dirty="0"/>
          </a:p>
          <a:p>
            <a:r>
              <a:rPr lang="nb-NO" b="1" dirty="0"/>
              <a:t>LAB: CI </a:t>
            </a:r>
            <a:r>
              <a:rPr lang="nb-NO" dirty="0"/>
              <a:t>med Spring </a:t>
            </a:r>
            <a:r>
              <a:rPr lang="nb-NO" dirty="0" err="1"/>
              <a:t>boot</a:t>
            </a:r>
            <a:r>
              <a:rPr lang="nb-NO" dirty="0"/>
              <a:t>:  </a:t>
            </a:r>
            <a:r>
              <a:rPr lang="nb-NO" dirty="0">
                <a:hlinkClick r:id="rId5"/>
              </a:rPr>
              <a:t>https://github.com/glennbechdevops/ci-spring-boot</a:t>
            </a:r>
            <a:endParaRPr lang="nb-NO" dirty="0"/>
          </a:p>
          <a:p>
            <a:pPr marL="0" indent="0">
              <a:buNone/>
            </a:pPr>
            <a:endParaRPr lang="nb-NO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23439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{1DE17DCD-4073-1F44-8BD2-DEECE02DCEC9}tf10001070_mac</Template>
  <TotalTime>2557</TotalTime>
  <Words>232</Words>
  <Application>Microsoft Macintosh PowerPoint</Application>
  <PresentationFormat>Widescreen</PresentationFormat>
  <Paragraphs>31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Arial</vt:lpstr>
      <vt:lpstr>Calibri</vt:lpstr>
      <vt:lpstr>Rockwell</vt:lpstr>
      <vt:lpstr>Rockwell Condensed</vt:lpstr>
      <vt:lpstr>Rockwell Extra Bold</vt:lpstr>
      <vt:lpstr>Wingdings</vt:lpstr>
      <vt:lpstr>Wood Type</vt:lpstr>
      <vt:lpstr>#4 - Hvor var vi:  AWS LAMBDA &amp; SAM</vt:lpstr>
      <vt:lpstr>AWS LAMBDA &amp; Serverless compute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 #4 – FREMOVER</vt:lpstr>
      <vt:lpstr>Agenda #4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 </dc:title>
  <dc:creator>Glenn Bech</dc:creator>
  <cp:lastModifiedBy>Glenn Bech</cp:lastModifiedBy>
  <cp:revision>75</cp:revision>
  <dcterms:created xsi:type="dcterms:W3CDTF">2024-09-13T04:53:29Z</dcterms:created>
  <dcterms:modified xsi:type="dcterms:W3CDTF">2026-09-11T10:43:20Z</dcterms:modified>
</cp:coreProperties>
</file>